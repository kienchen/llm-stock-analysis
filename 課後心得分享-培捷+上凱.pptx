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1" d="100"/>
          <a:sy n="121" d="100"/>
        </p:scale>
        <p:origin x="546" y="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da0138baf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da0138baf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da0138baf8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da0138baf8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da0138baf8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da0138baf8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da0138baf8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da0138baf8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da0138baf8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da0138baf8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da0138baf8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da0138baf8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>
            <a:spLocks noGrp="1"/>
          </p:cNvSpPr>
          <p:nvPr>
            <p:ph type="title"/>
          </p:nvPr>
        </p:nvSpPr>
        <p:spPr>
          <a:xfrm>
            <a:off x="0" y="-1231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zh-TW" sz="7430" b="1">
                <a:solidFill>
                  <a:schemeClr val="lt1"/>
                </a:solidFill>
              </a:rPr>
              <a:t>AI課後心得</a:t>
            </a:r>
            <a:endParaRPr sz="7430" b="1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990"/>
              <a:buFont typeface="Arial"/>
              <a:buNone/>
            </a:pPr>
            <a:endParaRPr sz="2520"/>
          </a:p>
        </p:txBody>
      </p:sp>
      <p:sp>
        <p:nvSpPr>
          <p:cNvPr id="56" name="Google Shape;56;p13"/>
          <p:cNvSpPr txBox="1">
            <a:spLocks noGrp="1"/>
          </p:cNvSpPr>
          <p:nvPr>
            <p:ph type="body" idx="1"/>
          </p:nvPr>
        </p:nvSpPr>
        <p:spPr>
          <a:xfrm>
            <a:off x="-71325" y="4152375"/>
            <a:ext cx="8520600" cy="89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440"/>
              <a:buFont typeface="Arial"/>
              <a:buNone/>
            </a:pPr>
            <a:r>
              <a:rPr lang="zh-TW" sz="1994" b="1">
                <a:solidFill>
                  <a:schemeClr val="lt1"/>
                </a:solidFill>
              </a:rPr>
              <a:t>                                                                                                                                                                                                                   報告人：廖培捷 Benjamin、洪上凱</a:t>
            </a:r>
            <a:endParaRPr sz="2674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400"/>
              </a:spcBef>
              <a:spcAft>
                <a:spcPts val="1200"/>
              </a:spcAft>
              <a:buSzPts val="440"/>
              <a:buNone/>
            </a:pPr>
            <a:endParaRPr sz="72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65375"/>
            <a:ext cx="5229299" cy="447930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0" y="-1094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3500" b="1"/>
              <a:t>一、 基礎知識框架 (核心觀念)</a:t>
            </a:r>
            <a:endParaRPr sz="3500" b="1"/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endParaRPr sz="3370" b="1"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SzPts val="990"/>
              <a:buNone/>
            </a:pPr>
            <a:endParaRPr sz="1170" b="1"/>
          </a:p>
        </p:txBody>
      </p:sp>
      <p:sp>
        <p:nvSpPr>
          <p:cNvPr id="63" name="Google Shape;63;p14"/>
          <p:cNvSpPr txBox="1">
            <a:spLocks noGrp="1"/>
          </p:cNvSpPr>
          <p:nvPr>
            <p:ph type="body" idx="1"/>
          </p:nvPr>
        </p:nvSpPr>
        <p:spPr>
          <a:xfrm>
            <a:off x="5291600" y="463250"/>
            <a:ext cx="3975600" cy="447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在開始寫程式之前，我們必須先釐清以下三個基本觀念：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zh-TW" b="1">
                <a:solidFill>
                  <a:schemeClr val="dk1"/>
                </a:solidFill>
              </a:rPr>
              <a:t>股票交易 101</a:t>
            </a:r>
            <a:r>
              <a:rPr lang="zh-TW">
                <a:solidFill>
                  <a:schemeClr val="dk1"/>
                </a:solidFill>
              </a:rPr>
              <a:t>：這是關於買賣的過程。買下一個公司的「碎片」，在證券市場中透過低買高賣，賺取價差或公司發放的股利。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zh-TW" b="1">
                <a:solidFill>
                  <a:schemeClr val="dk1"/>
                </a:solidFill>
              </a:rPr>
              <a:t>股票 101</a:t>
            </a:r>
            <a:r>
              <a:rPr lang="zh-TW">
                <a:solidFill>
                  <a:schemeClr val="dk1"/>
                </a:solidFill>
              </a:rPr>
              <a:t>：股票代表公司的所有權憑證。簡單來說，如果公司賺錢，你手上的「碎片」就會變貴、更有價值。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zh-TW" b="1">
                <a:solidFill>
                  <a:schemeClr val="dk1"/>
                </a:solidFill>
              </a:rPr>
              <a:t>會計 101</a:t>
            </a:r>
            <a:r>
              <a:rPr lang="zh-TW">
                <a:solidFill>
                  <a:schemeClr val="dk1"/>
                </a:solidFill>
              </a:rPr>
              <a:t>：教你如何正確記帳。最核心的等式是：</a:t>
            </a:r>
            <a:r>
              <a:rPr lang="zh-TW" b="1">
                <a:solidFill>
                  <a:schemeClr val="dk1"/>
                </a:solidFill>
              </a:rPr>
              <a:t>資產 = 負債 + 權益</a:t>
            </a:r>
            <a:r>
              <a:rPr lang="zh-TW">
                <a:solidFill>
                  <a:schemeClr val="dk1"/>
                </a:solidFill>
              </a:rPr>
              <a:t>，這能幫我們看出一家公司的真實財務狀況。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2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>
            <a:spLocks noGrp="1"/>
          </p:cNvSpPr>
          <p:nvPr>
            <p:ph type="title"/>
          </p:nvPr>
        </p:nvSpPr>
        <p:spPr>
          <a:xfrm>
            <a:off x="106500" y="103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2600" b="1"/>
              <a:t>二、 API 關鍵技術與安全管理</a:t>
            </a:r>
            <a:endParaRPr sz="3170" b="1"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SzPts val="990"/>
              <a:buNone/>
            </a:pPr>
            <a:endParaRPr sz="2520">
              <a:solidFill>
                <a:schemeClr val="lt1"/>
              </a:solidFill>
            </a:endParaRPr>
          </a:p>
        </p:txBody>
      </p:sp>
      <p:sp>
        <p:nvSpPr>
          <p:cNvPr id="69" name="Google Shape;69;p15"/>
          <p:cNvSpPr txBox="1">
            <a:spLocks noGrp="1"/>
          </p:cNvSpPr>
          <p:nvPr>
            <p:ph type="body" idx="1"/>
          </p:nvPr>
        </p:nvSpPr>
        <p:spPr>
          <a:xfrm>
            <a:off x="0" y="791000"/>
            <a:ext cx="8826900" cy="422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2600">
                <a:solidFill>
                  <a:schemeClr val="dk1"/>
                </a:solidFill>
              </a:rPr>
              <a:t>API 是程式抓取數據的橋樑，而「金鑰 (Key)」則是通行門票。</a:t>
            </a:r>
            <a:endParaRPr sz="2600">
              <a:solidFill>
                <a:schemeClr val="dk1"/>
              </a:solidFill>
            </a:endParaRPr>
          </a:p>
          <a:p>
            <a:pPr marL="457200" lvl="0" indent="-3937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600"/>
              <a:buChar char="●"/>
            </a:pPr>
            <a:r>
              <a:rPr lang="zh-TW" sz="2600" b="1">
                <a:solidFill>
                  <a:schemeClr val="dk1"/>
                </a:solidFill>
              </a:rPr>
              <a:t>API 金鑰三大功能</a:t>
            </a:r>
            <a:r>
              <a:rPr lang="zh-TW" sz="2600">
                <a:solidFill>
                  <a:schemeClr val="dk1"/>
                </a:solidFill>
              </a:rPr>
              <a:t>：驗證身分、存取控制、流量監測。</a:t>
            </a:r>
            <a:endParaRPr sz="2600">
              <a:solidFill>
                <a:schemeClr val="dk1"/>
              </a:solidFill>
            </a:endParaRPr>
          </a:p>
          <a:p>
            <a:pPr marL="457200" lvl="0" indent="-393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●"/>
            </a:pPr>
            <a:r>
              <a:rPr lang="zh-TW" sz="2600" b="1">
                <a:solidFill>
                  <a:schemeClr val="dk1"/>
                </a:solidFill>
              </a:rPr>
              <a:t>安全性考量 (簡化版)</a:t>
            </a:r>
            <a:r>
              <a:rPr lang="zh-TW" sz="2600">
                <a:solidFill>
                  <a:schemeClr val="dk1"/>
                </a:solidFill>
              </a:rPr>
              <a:t>：對比雲端與本地存取，核心在於</a:t>
            </a:r>
            <a:r>
              <a:rPr lang="zh-TW" sz="2600" b="1">
                <a:solidFill>
                  <a:schemeClr val="dk1"/>
                </a:solidFill>
              </a:rPr>
              <a:t>防止金鑰外洩</a:t>
            </a:r>
            <a:r>
              <a:rPr lang="zh-TW" sz="2600">
                <a:solidFill>
                  <a:schemeClr val="dk1"/>
                </a:solidFill>
              </a:rPr>
              <a:t>。雲端管理雖較安全，但仍須避免將金鑰上傳至公開平台（如 GitHub）造成風險。</a:t>
            </a:r>
            <a:endParaRPr sz="260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3300">
              <a:solidFill>
                <a:schemeClr val="dk1"/>
              </a:solidFill>
            </a:endParaRPr>
          </a:p>
        </p:txBody>
      </p:sp>
      <p:pic>
        <p:nvPicPr>
          <p:cNvPr id="70" name="Google Shape;70;p15"/>
          <p:cNvPicPr preferRelativeResize="0"/>
          <p:nvPr/>
        </p:nvPicPr>
        <p:blipFill rotWithShape="1">
          <a:blip r:embed="rId3">
            <a:alphaModFix/>
          </a:blip>
          <a:srcRect l="20171" t="18101" r="19471" b="18095"/>
          <a:stretch/>
        </p:blipFill>
        <p:spPr>
          <a:xfrm>
            <a:off x="6349325" y="3345375"/>
            <a:ext cx="2794674" cy="1422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2100" b="1"/>
              <a:t>三、 生成式 AI 編程 (以 AAPL 為例)</a:t>
            </a:r>
            <a:endParaRPr sz="2900" b="1"/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endParaRPr sz="2900" b="1"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SzPts val="990"/>
              <a:buNone/>
            </a:pPr>
            <a:endParaRPr sz="2520"/>
          </a:p>
        </p:txBody>
      </p:sp>
      <p:sp>
        <p:nvSpPr>
          <p:cNvPr id="76" name="Google Shape;76;p16"/>
          <p:cNvSpPr txBox="1">
            <a:spLocks noGrp="1"/>
          </p:cNvSpPr>
          <p:nvPr>
            <p:ph type="body" idx="1"/>
          </p:nvPr>
        </p:nvSpPr>
        <p:spPr>
          <a:xfrm>
            <a:off x="-93625" y="510900"/>
            <a:ext cx="5954400" cy="463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900">
                <a:solidFill>
                  <a:schemeClr val="dk1"/>
                </a:solidFill>
              </a:rPr>
              <a:t>這是本次學習的核心，利用 AI 輔助開發。</a:t>
            </a:r>
            <a:endParaRPr sz="1900">
              <a:solidFill>
                <a:schemeClr val="dk1"/>
              </a:solidFill>
            </a:endParaRPr>
          </a:p>
          <a:p>
            <a:pPr marL="457200" lvl="0" indent="-3492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zh-TW" sz="1900" b="1">
                <a:solidFill>
                  <a:schemeClr val="dk1"/>
                </a:solidFill>
              </a:rPr>
              <a:t>應用重點</a:t>
            </a:r>
            <a:r>
              <a:rPr lang="zh-TW" sz="1900">
                <a:solidFill>
                  <a:schemeClr val="dk1"/>
                </a:solidFill>
              </a:rPr>
              <a:t>：</a:t>
            </a:r>
            <a:endParaRPr sz="1900">
              <a:solidFill>
                <a:schemeClr val="dk1"/>
              </a:solidFill>
            </a:endParaRPr>
          </a:p>
          <a:p>
            <a:pPr marL="914400" lvl="1" indent="-349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</a:pPr>
            <a:r>
              <a:rPr lang="zh-TW" sz="1900" b="1">
                <a:solidFill>
                  <a:schemeClr val="dk1"/>
                </a:solidFill>
              </a:rPr>
              <a:t>自動化生成</a:t>
            </a:r>
            <a:r>
              <a:rPr lang="zh-TW" sz="1900">
                <a:solidFill>
                  <a:schemeClr val="dk1"/>
                </a:solidFill>
              </a:rPr>
              <a:t>：實現代碼補全與「自然語言轉代碼」。</a:t>
            </a:r>
            <a:endParaRPr sz="1900">
              <a:solidFill>
                <a:schemeClr val="dk1"/>
              </a:solidFill>
            </a:endParaRPr>
          </a:p>
          <a:p>
            <a:pPr marL="914400" lvl="1" indent="-349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</a:pPr>
            <a:r>
              <a:rPr lang="zh-TW" sz="1900" b="1">
                <a:solidFill>
                  <a:schemeClr val="dk1"/>
                </a:solidFill>
              </a:rPr>
              <a:t>調試與測試</a:t>
            </a:r>
            <a:r>
              <a:rPr lang="zh-TW" sz="1900">
                <a:solidFill>
                  <a:schemeClr val="dk1"/>
                </a:solidFill>
              </a:rPr>
              <a:t>：由 AI 協助修復錯誤並進行單元測試。</a:t>
            </a:r>
            <a:endParaRPr sz="1900">
              <a:solidFill>
                <a:schemeClr val="dk1"/>
              </a:solidFill>
            </a:endParaRPr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zh-TW" sz="1900" b="1">
                <a:solidFill>
                  <a:schemeClr val="dk1"/>
                </a:solidFill>
              </a:rPr>
              <a:t>實作成果</a:t>
            </a:r>
            <a:r>
              <a:rPr lang="zh-TW" sz="1900">
                <a:solidFill>
                  <a:schemeClr val="dk1"/>
                </a:solidFill>
              </a:rPr>
              <a:t>：</a:t>
            </a:r>
            <a:endParaRPr sz="1900">
              <a:solidFill>
                <a:schemeClr val="dk1"/>
              </a:solidFill>
            </a:endParaRPr>
          </a:p>
          <a:p>
            <a:pPr marL="914400" lvl="1" indent="-349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</a:pPr>
            <a:r>
              <a:rPr lang="zh-TW" sz="1900" b="1">
                <a:solidFill>
                  <a:schemeClr val="dk1"/>
                </a:solidFill>
              </a:rPr>
              <a:t>自動抓取</a:t>
            </a:r>
            <a:r>
              <a:rPr lang="zh-TW" sz="1900">
                <a:solidFill>
                  <a:schemeClr val="dk1"/>
                </a:solidFill>
              </a:rPr>
              <a:t>：AI 自動生成程式碼，獲取 </a:t>
            </a:r>
            <a:r>
              <a:rPr lang="zh-TW" sz="1900" b="1">
                <a:solidFill>
                  <a:schemeClr val="dk1"/>
                </a:solidFill>
              </a:rPr>
              <a:t>Apple </a:t>
            </a:r>
            <a:r>
              <a:rPr lang="zh-TW" sz="1900">
                <a:solidFill>
                  <a:schemeClr val="dk1"/>
                </a:solidFill>
              </a:rPr>
              <a:t>的交易數據。</a:t>
            </a:r>
            <a:endParaRPr sz="1900">
              <a:solidFill>
                <a:schemeClr val="dk1"/>
              </a:solidFill>
            </a:endParaRPr>
          </a:p>
          <a:p>
            <a:pPr marL="914400" lvl="1" indent="-349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</a:pPr>
            <a:r>
              <a:rPr lang="zh-TW" sz="1900" b="1">
                <a:solidFill>
                  <a:schemeClr val="dk1"/>
                </a:solidFill>
              </a:rPr>
              <a:t>效率提升</a:t>
            </a:r>
            <a:r>
              <a:rPr lang="zh-TW" sz="1900">
                <a:solidFill>
                  <a:schemeClr val="dk1"/>
                </a:solidFill>
              </a:rPr>
              <a:t>：取代手動搜尋，直接產出結構化報表。</a:t>
            </a:r>
            <a:endParaRPr sz="19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pic>
        <p:nvPicPr>
          <p:cNvPr id="77" name="Google Shape;7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0775" y="647700"/>
            <a:ext cx="3228500" cy="4495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>
            <a:spLocks noGrp="1"/>
          </p:cNvSpPr>
          <p:nvPr>
            <p:ph type="title"/>
          </p:nvPr>
        </p:nvSpPr>
        <p:spPr>
          <a:xfrm>
            <a:off x="243300" y="620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zh-TW" sz="3770" b="1"/>
              <a:t>四、 學習心得與總結 (收尾)</a:t>
            </a:r>
            <a:endParaRPr sz="3770" b="1"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SzPts val="990"/>
              <a:buNone/>
            </a:pPr>
            <a:endParaRPr sz="1170" b="1"/>
          </a:p>
        </p:txBody>
      </p:sp>
      <p:sp>
        <p:nvSpPr>
          <p:cNvPr id="83" name="Google Shape;83;p17"/>
          <p:cNvSpPr txBox="1">
            <a:spLocks noGrp="1"/>
          </p:cNvSpPr>
          <p:nvPr>
            <p:ph type="body" idx="1"/>
          </p:nvPr>
        </p:nvSpPr>
        <p:spPr>
          <a:xfrm>
            <a:off x="311700" y="863550"/>
            <a:ext cx="8520600" cy="190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4805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30"/>
              <a:buChar char="●"/>
            </a:pPr>
            <a:r>
              <a:rPr lang="zh-TW" sz="1829" b="1">
                <a:solidFill>
                  <a:schemeClr val="dk1"/>
                </a:solidFill>
              </a:rPr>
              <a:t>技術成長</a:t>
            </a:r>
            <a:r>
              <a:rPr lang="zh-TW" sz="1829">
                <a:solidFill>
                  <a:schemeClr val="dk1"/>
                </a:solidFill>
              </a:rPr>
              <a:t>：我們學會了簡單的程式碼編寫、API 金鑰的應用，以及最重要的「和 AI 溝通的方法」。</a:t>
            </a:r>
            <a:endParaRPr sz="1829">
              <a:solidFill>
                <a:schemeClr val="dk1"/>
              </a:solidFill>
            </a:endParaRPr>
          </a:p>
          <a:p>
            <a:pPr marL="457200" lvl="0" indent="-344805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30"/>
              <a:buChar char="●"/>
            </a:pPr>
            <a:r>
              <a:rPr lang="zh-TW" sz="1829" b="1">
                <a:solidFill>
                  <a:schemeClr val="dk1"/>
                </a:solidFill>
              </a:rPr>
              <a:t>最有趣的時刻</a:t>
            </a:r>
            <a:r>
              <a:rPr lang="zh-TW" sz="1829">
                <a:solidFill>
                  <a:schemeClr val="dk1"/>
                </a:solidFill>
              </a:rPr>
              <a:t>：莫過於親自取得 API 金鑰，並看著程式成功自動化抓取數據的那一刻。</a:t>
            </a:r>
            <a:endParaRPr sz="1829">
              <a:solidFill>
                <a:schemeClr val="dk1"/>
              </a:solidFill>
            </a:endParaRPr>
          </a:p>
          <a:p>
            <a:pPr marL="457200" lvl="0" indent="-344805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30"/>
              <a:buChar char="●"/>
            </a:pPr>
            <a:r>
              <a:rPr lang="zh-TW" sz="1829" b="1">
                <a:solidFill>
                  <a:schemeClr val="dk1"/>
                </a:solidFill>
              </a:rPr>
              <a:t>最終體悟</a:t>
            </a:r>
            <a:r>
              <a:rPr lang="zh-TW" sz="1829">
                <a:solidFill>
                  <a:schemeClr val="dk1"/>
                </a:solidFill>
              </a:rPr>
              <a:t>：生成式 AI 讓金融分析變得平易近人。只要善用工具，即使是非工程師，也能打造屬於自己的投資數據分析系統。</a:t>
            </a:r>
            <a:endParaRPr sz="1829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endParaRPr sz="2425"/>
          </a:p>
        </p:txBody>
      </p:sp>
      <p:pic>
        <p:nvPicPr>
          <p:cNvPr id="84" name="Google Shape;8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770650"/>
            <a:ext cx="4214927" cy="2372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9300"/>
              <a:t>謝謝收看</a:t>
            </a:r>
            <a:endParaRPr sz="8800"/>
          </a:p>
        </p:txBody>
      </p:sp>
      <p:pic>
        <p:nvPicPr>
          <p:cNvPr id="90" name="Google Shape;9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61700" y="974900"/>
            <a:ext cx="3146475" cy="214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660</Words>
  <Application>Microsoft Office PowerPoint</Application>
  <PresentationFormat>On-screen Show (16:9)</PresentationFormat>
  <Paragraphs>24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8" baseType="lpstr">
      <vt:lpstr>Arial</vt:lpstr>
      <vt:lpstr>Simple Light</vt:lpstr>
      <vt:lpstr>AI課後心得 </vt:lpstr>
      <vt:lpstr>一、 基礎知識框架 (核心觀念)  </vt:lpstr>
      <vt:lpstr>二、 API 關鍵技術與安全管理 </vt:lpstr>
      <vt:lpstr>三、 生成式 AI 編程 (以 AAPL 為例)  </vt:lpstr>
      <vt:lpstr>四、 學習心得與總結 (收尾)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kelvin chen</dc:creator>
  <cp:lastModifiedBy>kelvin chen</cp:lastModifiedBy>
  <cp:revision>1</cp:revision>
  <dcterms:modified xsi:type="dcterms:W3CDTF">2026-03-24T12:07:33Z</dcterms:modified>
</cp:coreProperties>
</file>